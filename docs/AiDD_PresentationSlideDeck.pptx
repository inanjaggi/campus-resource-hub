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4"/>
  </p:sldMasterIdLst>
  <p:notesMasterIdLst>
    <p:notesMasterId r:id="rId11"/>
  </p:notesMasterIdLst>
  <p:sldIdLst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kern="0"/>
    </a:def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  <a:srgbClr val="2C609D"/>
    <a:srgbClr val="F0F0F0"/>
    <a:srgbClr val="E1E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C82A3D-C663-448C-97C8-6E9C9609E1B5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7C025A-FFE7-471B-890D-B3BC782EA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943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7C025A-FFE7-471B-890D-B3BC782EA1D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5356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3E5B0-A6D4-E11E-4211-9EAAF0381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16FA60-EEE6-8000-8FE1-4581462A9E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E13E94-CCCB-FB37-F01A-BD7FCC3E91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4F353-9CCB-353A-EE51-0A9146A929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7C025A-FFE7-471B-890D-B3BC782EA1D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792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5CE57-E676-6119-8F0C-0E3B9C475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4ADD7B-DB0B-06E5-B19D-FF1BFD158D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65CF52-CB61-F5EA-DCF4-CBC7951811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53CD1-7BA3-C2D5-38AC-3E922A391B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7C025A-FFE7-471B-890D-B3BC782EA1D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2796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4ABC2-CE38-14B8-A3FE-B30BD1D3C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153008-2CC0-B65C-BD42-4A2CAAB8E9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99FDA4-D952-D48C-7269-C9789244E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FE0E0-4B3D-4048-FBF9-253CE55B42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7C025A-FFE7-471B-890D-B3BC782EA1D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589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4F939-5135-A739-8F1C-D4927546D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38965E-E885-654A-BF02-971F0CF755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FF587B-D9C7-3B63-08CB-A77F0EB0EA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3D855-5BAF-4F6F-9AFF-C7C9839762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7C025A-FFE7-471B-890D-B3BC782EA1D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0725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7A893-7962-B7D8-AF1F-D848FFD02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B6AF7F-4F0A-7230-93CD-FAF6ABB651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F80695-5785-499B-6D38-958C6AF717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BAF44-F4D3-4BC2-36EF-D163BB9B46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7C025A-FFE7-471B-890D-B3BC782EA1D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682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8BEDD3-0132-4D18-B90C-9C7FE4B1410F}" type="datetime1">
              <a:rPr lang="en-US" smtClean="0"/>
              <a:t>11/14/2025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84A318-4557-4284-917A-58A754245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26165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CEDB9C-9770-485E-8965-81E63BE37108}" type="datetime1">
              <a:rPr lang="en-US" smtClean="0"/>
              <a:t>11/14/2025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84A318-4557-4284-917A-58A754245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200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8BEDD3-0132-4D18-B90C-9C7FE4B1410F}" type="datetime1">
              <a:rPr lang="en-US" smtClean="0"/>
              <a:t>11/14/2025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84A318-4557-4284-917A-58A754245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25641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6BBB31-D310-4B37-AA28-C13888BAEB3B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84A318-4557-4284-917A-58A754245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963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68EC20-E9B9-427F-BB96-651E3C791C27}" type="datetime1">
              <a:rPr lang="en-US" smtClean="0"/>
              <a:t>11/14/2025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84A318-4557-4284-917A-58A754245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321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/>
          </a:solidFill>
          <a:ln/>
        </p:spPr>
      </p:sp>
    </p:spTree>
    <p:extLst>
      <p:ext uri="{BB962C8B-B14F-4D97-AF65-F5344CB8AC3E}">
        <p14:creationId xmlns:p14="http://schemas.microsoft.com/office/powerpoint/2010/main" val="3732105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/>
          </a:solidFill>
          <a:ln/>
        </p:spPr>
      </p:sp>
    </p:spTree>
    <p:extLst>
      <p:ext uri="{BB962C8B-B14F-4D97-AF65-F5344CB8AC3E}">
        <p14:creationId xmlns:p14="http://schemas.microsoft.com/office/powerpoint/2010/main" val="481779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1908" y="271983"/>
            <a:ext cx="11108182" cy="8965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8BEDD3-0132-4D18-B90C-9C7FE4B1410F}" type="datetime1">
              <a:rPr lang="en-US" smtClean="0"/>
              <a:t>11/14/2025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84A318-4557-4284-917A-58A754245F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641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</p:sldLayoutIdLst>
  <p:hf sldNum="0" hdr="0" ftr="0" dt="0"/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DBDB4026-EA81-3E3D-9D99-3DC98D16E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452" y="1169125"/>
            <a:ext cx="11311096" cy="4901475"/>
          </a:xfrm>
          <a:prstGeom prst="rect">
            <a:avLst/>
          </a:prstGeom>
        </p:spPr>
      </p:pic>
      <p:sp>
        <p:nvSpPr>
          <p:cNvPr id="22" name="Right Triangle 21">
            <a:extLst>
              <a:ext uri="{FF2B5EF4-FFF2-40B4-BE49-F238E27FC236}">
                <a16:creationId xmlns:a16="http://schemas.microsoft.com/office/drawing/2014/main" id="{E5FB0EC7-19B4-4578-8B34-53D567D29C18}"/>
              </a:ext>
            </a:extLst>
          </p:cNvPr>
          <p:cNvSpPr/>
          <p:nvPr/>
        </p:nvSpPr>
        <p:spPr>
          <a:xfrm flipH="1">
            <a:off x="11390495" y="6380330"/>
            <a:ext cx="804672" cy="480284"/>
          </a:xfrm>
          <a:prstGeom prst="rtTriangle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BA82229-91A0-51F9-049C-45D21C403D8E}"/>
              </a:ext>
            </a:extLst>
          </p:cNvPr>
          <p:cNvGrpSpPr/>
          <p:nvPr/>
        </p:nvGrpSpPr>
        <p:grpSpPr>
          <a:xfrm>
            <a:off x="2006088" y="6546896"/>
            <a:ext cx="8179824" cy="237374"/>
            <a:chOff x="1201797" y="6512227"/>
            <a:chExt cx="8179824" cy="23737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D10C6CF3-5953-ACBE-B774-85373486062A}"/>
                </a:ext>
              </a:extLst>
            </p:cNvPr>
            <p:cNvSpPr/>
            <p:nvPr/>
          </p:nvSpPr>
          <p:spPr>
            <a:xfrm>
              <a:off x="2808036" y="6512577"/>
              <a:ext cx="1737614" cy="236995"/>
            </a:xfrm>
            <a:prstGeom prst="parallelogram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Adding Resources</a:t>
              </a:r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CFF6BCA0-2497-0705-605D-8B4BC9031D7C}"/>
                </a:ext>
              </a:extLst>
            </p:cNvPr>
            <p:cNvSpPr/>
            <p:nvPr/>
          </p:nvSpPr>
          <p:spPr>
            <a:xfrm>
              <a:off x="1201797" y="6512577"/>
              <a:ext cx="1667275" cy="236995"/>
            </a:xfrm>
            <a:prstGeom prst="parallelogram">
              <a:avLst/>
            </a:prstGeom>
            <a:solidFill>
              <a:srgbClr val="99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Account Creation</a:t>
              </a:r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A9E9AFC8-C307-137A-588D-01955CF8F402}"/>
                </a:ext>
              </a:extLst>
            </p:cNvPr>
            <p:cNvSpPr/>
            <p:nvPr/>
          </p:nvSpPr>
          <p:spPr>
            <a:xfrm>
              <a:off x="4484614" y="6512228"/>
              <a:ext cx="1667275" cy="237344"/>
            </a:xfrm>
            <a:prstGeom prst="parallelogram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Reserve A Resource</a:t>
              </a:r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587C2DB4-3DEE-9D84-D77F-9AD9C2F3E440}"/>
                </a:ext>
              </a:extLst>
            </p:cNvPr>
            <p:cNvSpPr/>
            <p:nvPr/>
          </p:nvSpPr>
          <p:spPr>
            <a:xfrm>
              <a:off x="6090853" y="6512548"/>
              <a:ext cx="1678998" cy="237053"/>
            </a:xfrm>
            <a:prstGeom prst="parallelogram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Admin Resources</a:t>
              </a:r>
            </a:p>
          </p:txBody>
        </p:sp>
        <p:sp>
          <p:nvSpPr>
            <p:cNvPr id="7" name="Parallelogram 6">
              <a:extLst>
                <a:ext uri="{FF2B5EF4-FFF2-40B4-BE49-F238E27FC236}">
                  <a16:creationId xmlns:a16="http://schemas.microsoft.com/office/drawing/2014/main" id="{E93C2F58-8D4D-A325-EC4A-3134798D01EA}"/>
                </a:ext>
              </a:extLst>
            </p:cNvPr>
            <p:cNvSpPr/>
            <p:nvPr/>
          </p:nvSpPr>
          <p:spPr>
            <a:xfrm>
              <a:off x="7714346" y="6512227"/>
              <a:ext cx="1667275" cy="236995"/>
            </a:xfrm>
            <a:prstGeom prst="parallelogram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Messaging</a:t>
              </a:r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2B22C57-BBD2-85B0-1DDF-5608C85326EE}"/>
              </a:ext>
            </a:extLst>
          </p:cNvPr>
          <p:cNvCxnSpPr>
            <a:cxnSpLocks/>
          </p:cNvCxnSpPr>
          <p:nvPr/>
        </p:nvCxnSpPr>
        <p:spPr>
          <a:xfrm>
            <a:off x="1188433" y="6428232"/>
            <a:ext cx="9815135" cy="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DF654BE-B224-E27B-701C-D6F0A8C2A59E}"/>
              </a:ext>
            </a:extLst>
          </p:cNvPr>
          <p:cNvSpPr txBox="1"/>
          <p:nvPr/>
        </p:nvSpPr>
        <p:spPr>
          <a:xfrm>
            <a:off x="11858748" y="6519446"/>
            <a:ext cx="4822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73FFDA-FE6E-B764-0F11-2C8DA7DB5450}"/>
              </a:ext>
            </a:extLst>
          </p:cNvPr>
          <p:cNvSpPr txBox="1"/>
          <p:nvPr/>
        </p:nvSpPr>
        <p:spPr>
          <a:xfrm>
            <a:off x="313720" y="95685"/>
            <a:ext cx="1101852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>
                <a:latin typeface="+mn-lt"/>
              </a:rPr>
              <a:t>Account Creation and Login Is Simple For All Users To Complete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90542D7-B427-F187-7D4A-FEE54F8E7624}"/>
              </a:ext>
            </a:extLst>
          </p:cNvPr>
          <p:cNvCxnSpPr>
            <a:cxnSpLocks/>
          </p:cNvCxnSpPr>
          <p:nvPr/>
        </p:nvCxnSpPr>
        <p:spPr>
          <a:xfrm>
            <a:off x="196916" y="561121"/>
            <a:ext cx="11193579" cy="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237A1E9-52AB-5658-7478-EE2DB56E7EF8}"/>
              </a:ext>
            </a:extLst>
          </p:cNvPr>
          <p:cNvCxnSpPr>
            <a:cxnSpLocks/>
          </p:cNvCxnSpPr>
          <p:nvPr/>
        </p:nvCxnSpPr>
        <p:spPr>
          <a:xfrm flipH="1">
            <a:off x="7173686" y="3287486"/>
            <a:ext cx="2178588" cy="1415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218F165-E811-CEC6-4280-419C0E23C5AB}"/>
              </a:ext>
            </a:extLst>
          </p:cNvPr>
          <p:cNvSpPr/>
          <p:nvPr/>
        </p:nvSpPr>
        <p:spPr>
          <a:xfrm>
            <a:off x="9353502" y="2030186"/>
            <a:ext cx="2505246" cy="25146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Here you can choose your role as a user between staff and student. Certain roles get certain privileges.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601DEA3-381E-606F-CCE2-5F5E9121F12F}"/>
              </a:ext>
            </a:extLst>
          </p:cNvPr>
          <p:cNvSpPr/>
          <p:nvPr/>
        </p:nvSpPr>
        <p:spPr>
          <a:xfrm>
            <a:off x="753465" y="1609268"/>
            <a:ext cx="2163906" cy="201205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Admin access is given internally and not available for anybody to sign up for.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F9B4F3D-89C9-5DD2-3D34-FD53AF82CB1D}"/>
              </a:ext>
            </a:extLst>
          </p:cNvPr>
          <p:cNvSpPr/>
          <p:nvPr/>
        </p:nvSpPr>
        <p:spPr>
          <a:xfrm>
            <a:off x="752237" y="3920659"/>
            <a:ext cx="2163906" cy="201205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Password creation has set requirements to ensure a secure and complex enough password has been set.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35B764A-BECC-C519-22F3-F3A7D7E3A384}"/>
              </a:ext>
            </a:extLst>
          </p:cNvPr>
          <p:cNvCxnSpPr>
            <a:cxnSpLocks/>
            <a:stCxn id="21" idx="3"/>
          </p:cNvCxnSpPr>
          <p:nvPr/>
        </p:nvCxnSpPr>
        <p:spPr>
          <a:xfrm flipV="1">
            <a:off x="2916143" y="4147457"/>
            <a:ext cx="1753828" cy="7792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519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7A86B-1138-B788-41E5-E074F5EE8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37CCA4-38AE-EFF6-0E84-E5AF1CB9DA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720" y="1101821"/>
            <a:ext cx="11625943" cy="5030751"/>
          </a:xfrm>
          <a:prstGeom prst="rect">
            <a:avLst/>
          </a:prstGeom>
        </p:spPr>
      </p:pic>
      <p:sp>
        <p:nvSpPr>
          <p:cNvPr id="22" name="Right Triangle 21">
            <a:extLst>
              <a:ext uri="{FF2B5EF4-FFF2-40B4-BE49-F238E27FC236}">
                <a16:creationId xmlns:a16="http://schemas.microsoft.com/office/drawing/2014/main" id="{49471544-BA27-597E-B061-3C24863EA98E}"/>
              </a:ext>
            </a:extLst>
          </p:cNvPr>
          <p:cNvSpPr/>
          <p:nvPr/>
        </p:nvSpPr>
        <p:spPr>
          <a:xfrm flipH="1">
            <a:off x="11390495" y="6380330"/>
            <a:ext cx="804672" cy="480284"/>
          </a:xfrm>
          <a:prstGeom prst="rtTriangle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34568A6-E23E-751C-7B26-E9B48759F412}"/>
              </a:ext>
            </a:extLst>
          </p:cNvPr>
          <p:cNvGrpSpPr/>
          <p:nvPr/>
        </p:nvGrpSpPr>
        <p:grpSpPr>
          <a:xfrm>
            <a:off x="2006088" y="6546896"/>
            <a:ext cx="8179824" cy="237374"/>
            <a:chOff x="1201797" y="6512227"/>
            <a:chExt cx="8179824" cy="23737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BC4B7B0A-EF55-DD5F-53E9-B311C21525ED}"/>
                </a:ext>
              </a:extLst>
            </p:cNvPr>
            <p:cNvSpPr/>
            <p:nvPr/>
          </p:nvSpPr>
          <p:spPr>
            <a:xfrm>
              <a:off x="2808036" y="6512577"/>
              <a:ext cx="1737614" cy="236995"/>
            </a:xfrm>
            <a:prstGeom prst="parallelogram">
              <a:avLst/>
            </a:prstGeom>
            <a:solidFill>
              <a:srgbClr val="99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Adding Resources</a:t>
              </a:r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21EA3856-C1E3-B8CD-2C29-25C76F2815F2}"/>
                </a:ext>
              </a:extLst>
            </p:cNvPr>
            <p:cNvSpPr/>
            <p:nvPr/>
          </p:nvSpPr>
          <p:spPr>
            <a:xfrm>
              <a:off x="1201797" y="6512577"/>
              <a:ext cx="1667275" cy="236995"/>
            </a:xfrm>
            <a:prstGeom prst="parallelogram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Account Creation</a:t>
              </a:r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56F6654-17CA-86CD-21D0-95E69258A682}"/>
                </a:ext>
              </a:extLst>
            </p:cNvPr>
            <p:cNvSpPr/>
            <p:nvPr/>
          </p:nvSpPr>
          <p:spPr>
            <a:xfrm>
              <a:off x="4484614" y="6512228"/>
              <a:ext cx="1667275" cy="237344"/>
            </a:xfrm>
            <a:prstGeom prst="parallelogram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Reserve A Resource</a:t>
              </a:r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41194E51-BB86-7EAE-0F89-A428082B9E53}"/>
                </a:ext>
              </a:extLst>
            </p:cNvPr>
            <p:cNvSpPr/>
            <p:nvPr/>
          </p:nvSpPr>
          <p:spPr>
            <a:xfrm>
              <a:off x="6090853" y="6512548"/>
              <a:ext cx="1678998" cy="237053"/>
            </a:xfrm>
            <a:prstGeom prst="parallelogram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Admin Resources</a:t>
              </a:r>
            </a:p>
          </p:txBody>
        </p:sp>
        <p:sp>
          <p:nvSpPr>
            <p:cNvPr id="7" name="Parallelogram 6">
              <a:extLst>
                <a:ext uri="{FF2B5EF4-FFF2-40B4-BE49-F238E27FC236}">
                  <a16:creationId xmlns:a16="http://schemas.microsoft.com/office/drawing/2014/main" id="{D28F1771-E96E-9FAF-5B37-BA255D60D08C}"/>
                </a:ext>
              </a:extLst>
            </p:cNvPr>
            <p:cNvSpPr/>
            <p:nvPr/>
          </p:nvSpPr>
          <p:spPr>
            <a:xfrm>
              <a:off x="7714346" y="6512227"/>
              <a:ext cx="1667275" cy="236995"/>
            </a:xfrm>
            <a:prstGeom prst="parallelogram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Messaging</a:t>
              </a:r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6A9F5E8-AB64-EB75-079F-E02BA641132A}"/>
              </a:ext>
            </a:extLst>
          </p:cNvPr>
          <p:cNvCxnSpPr>
            <a:cxnSpLocks/>
          </p:cNvCxnSpPr>
          <p:nvPr/>
        </p:nvCxnSpPr>
        <p:spPr>
          <a:xfrm>
            <a:off x="1188433" y="6428232"/>
            <a:ext cx="9815135" cy="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DE0973C-483E-3FA2-3F12-DB0C3E218B4D}"/>
              </a:ext>
            </a:extLst>
          </p:cNvPr>
          <p:cNvSpPr txBox="1"/>
          <p:nvPr/>
        </p:nvSpPr>
        <p:spPr>
          <a:xfrm>
            <a:off x="11858748" y="6519446"/>
            <a:ext cx="4822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9AB004-F255-4246-2E0B-34F6151B30CB}"/>
              </a:ext>
            </a:extLst>
          </p:cNvPr>
          <p:cNvSpPr txBox="1"/>
          <p:nvPr/>
        </p:nvSpPr>
        <p:spPr>
          <a:xfrm>
            <a:off x="313720" y="95685"/>
            <a:ext cx="1101852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>
                <a:latin typeface="+mn-lt"/>
              </a:rPr>
              <a:t>Adding Resources Allows The User To Adjust A Multitude Of Settings About The Resource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ACC936C-1654-5021-3A4D-290F6ED44BB1}"/>
              </a:ext>
            </a:extLst>
          </p:cNvPr>
          <p:cNvCxnSpPr>
            <a:cxnSpLocks/>
          </p:cNvCxnSpPr>
          <p:nvPr/>
        </p:nvCxnSpPr>
        <p:spPr>
          <a:xfrm>
            <a:off x="196916" y="561121"/>
            <a:ext cx="11193579" cy="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97B82A6-DCB6-BCF7-1FD5-6CA832BADD24}"/>
              </a:ext>
            </a:extLst>
          </p:cNvPr>
          <p:cNvCxnSpPr>
            <a:cxnSpLocks/>
            <a:stCxn id="21" idx="3"/>
          </p:cNvCxnSpPr>
          <p:nvPr/>
        </p:nvCxnSpPr>
        <p:spPr>
          <a:xfrm flipV="1">
            <a:off x="2916143" y="3026707"/>
            <a:ext cx="1285743" cy="18999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C16A9F0-E452-D3EB-3874-1164122663E7}"/>
              </a:ext>
            </a:extLst>
          </p:cNvPr>
          <p:cNvSpPr/>
          <p:nvPr/>
        </p:nvSpPr>
        <p:spPr>
          <a:xfrm>
            <a:off x="8885249" y="1573907"/>
            <a:ext cx="2505246" cy="115932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600" dirty="0">
                <a:solidFill>
                  <a:schemeClr val="tx1"/>
                </a:solidFill>
              </a:rPr>
              <a:t>Status refers to if the resource is open to the public, archived and not available, or a draft.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3D514D5-57BA-7F11-DD74-B75D861AC8DB}"/>
              </a:ext>
            </a:extLst>
          </p:cNvPr>
          <p:cNvSpPr/>
          <p:nvPr/>
        </p:nvSpPr>
        <p:spPr>
          <a:xfrm>
            <a:off x="196916" y="1760773"/>
            <a:ext cx="2163906" cy="201205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600" dirty="0">
                <a:solidFill>
                  <a:schemeClr val="tx1"/>
                </a:solidFill>
              </a:rPr>
              <a:t>The “Add Resources” button allows for users (staff and admin) to easily add resources that can be available to all students/staff.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766B415-579A-CA55-D355-D3EEF4463040}"/>
              </a:ext>
            </a:extLst>
          </p:cNvPr>
          <p:cNvSpPr/>
          <p:nvPr/>
        </p:nvSpPr>
        <p:spPr>
          <a:xfrm>
            <a:off x="196916" y="3920659"/>
            <a:ext cx="2719227" cy="201205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600" dirty="0">
                <a:solidFill>
                  <a:schemeClr val="tx1"/>
                </a:solidFill>
              </a:rPr>
              <a:t>The resource creation requires certain aspects such as the title and category. The category section allows you to choose the type of resource you have (computer, study room, etc.).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4EFAF8C-59A5-4AEC-4DC7-885B8E5DF0AF}"/>
              </a:ext>
            </a:extLst>
          </p:cNvPr>
          <p:cNvCxnSpPr>
            <a:cxnSpLocks/>
            <a:endCxn id="32" idx="3"/>
          </p:cNvCxnSpPr>
          <p:nvPr/>
        </p:nvCxnSpPr>
        <p:spPr>
          <a:xfrm flipV="1">
            <a:off x="2248459" y="1289579"/>
            <a:ext cx="646413" cy="5864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36709ED-E608-6A56-240D-2945C956060E}"/>
              </a:ext>
            </a:extLst>
          </p:cNvPr>
          <p:cNvSpPr/>
          <p:nvPr/>
        </p:nvSpPr>
        <p:spPr>
          <a:xfrm>
            <a:off x="8933289" y="3617194"/>
            <a:ext cx="3061794" cy="213898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600" dirty="0">
                <a:solidFill>
                  <a:schemeClr val="tx1"/>
                </a:solidFill>
              </a:rPr>
              <a:t>The booking type can either be restricted or open. </a:t>
            </a:r>
            <a:r>
              <a:rPr lang="en-US" sz="1600" b="1" dirty="0">
                <a:solidFill>
                  <a:schemeClr val="tx1"/>
                </a:solidFill>
              </a:rPr>
              <a:t>Restricted resources</a:t>
            </a:r>
            <a:r>
              <a:rPr lang="en-US" sz="1600" dirty="0">
                <a:solidFill>
                  <a:schemeClr val="tx1"/>
                </a:solidFill>
              </a:rPr>
              <a:t> require approval from you for anyone to book a time with this resource. </a:t>
            </a:r>
            <a:r>
              <a:rPr lang="en-US" sz="1600" b="1" dirty="0">
                <a:solidFill>
                  <a:schemeClr val="tx1"/>
                </a:solidFill>
              </a:rPr>
              <a:t>Open resources</a:t>
            </a:r>
            <a:r>
              <a:rPr lang="en-US" sz="1600" dirty="0">
                <a:solidFill>
                  <a:schemeClr val="tx1"/>
                </a:solidFill>
              </a:rPr>
              <a:t> can be scheduled by anyone with no approval required.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B0C3D8A-B98F-5D39-0E4E-50EB9341C507}"/>
              </a:ext>
            </a:extLst>
          </p:cNvPr>
          <p:cNvCxnSpPr>
            <a:cxnSpLocks/>
            <a:stCxn id="25" idx="1"/>
          </p:cNvCxnSpPr>
          <p:nvPr/>
        </p:nvCxnSpPr>
        <p:spPr>
          <a:xfrm flipH="1" flipV="1">
            <a:off x="7990116" y="4604657"/>
            <a:ext cx="943173" cy="820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346F9F5-1E06-DFE8-0A71-F944085B9B3F}"/>
              </a:ext>
            </a:extLst>
          </p:cNvPr>
          <p:cNvCxnSpPr>
            <a:cxnSpLocks/>
          </p:cNvCxnSpPr>
          <p:nvPr/>
        </p:nvCxnSpPr>
        <p:spPr>
          <a:xfrm flipH="1">
            <a:off x="7990116" y="2153571"/>
            <a:ext cx="895133" cy="18450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7F417DB1-749F-CB4F-4999-BDB8553AB937}"/>
              </a:ext>
            </a:extLst>
          </p:cNvPr>
          <p:cNvSpPr/>
          <p:nvPr/>
        </p:nvSpPr>
        <p:spPr>
          <a:xfrm>
            <a:off x="2797627" y="1022766"/>
            <a:ext cx="664029" cy="31259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86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FBA1F-5EB5-ECDD-13FC-BF28D6D34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047266D-7CAB-7336-5193-FD9ED90932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31"/>
          <a:stretch>
            <a:fillRect/>
          </a:stretch>
        </p:blipFill>
        <p:spPr>
          <a:xfrm>
            <a:off x="5381848" y="3026707"/>
            <a:ext cx="6295847" cy="3172823"/>
          </a:xfrm>
          <a:prstGeom prst="rect">
            <a:avLst/>
          </a:prstGeom>
        </p:spPr>
      </p:pic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717DD4A-C5DC-E6ED-E760-18EFA8A92E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92" t="7178" r="23523" b="-531"/>
          <a:stretch>
            <a:fillRect/>
          </a:stretch>
        </p:blipFill>
        <p:spPr>
          <a:xfrm>
            <a:off x="521390" y="750164"/>
            <a:ext cx="4789506" cy="3659135"/>
          </a:xfrm>
          <a:prstGeom prst="rect">
            <a:avLst/>
          </a:prstGeom>
        </p:spPr>
      </p:pic>
      <p:sp>
        <p:nvSpPr>
          <p:cNvPr id="22" name="Right Triangle 21">
            <a:extLst>
              <a:ext uri="{FF2B5EF4-FFF2-40B4-BE49-F238E27FC236}">
                <a16:creationId xmlns:a16="http://schemas.microsoft.com/office/drawing/2014/main" id="{FA29FFBB-AB36-47B0-11E7-260AF1302FE1}"/>
              </a:ext>
            </a:extLst>
          </p:cNvPr>
          <p:cNvSpPr/>
          <p:nvPr/>
        </p:nvSpPr>
        <p:spPr>
          <a:xfrm flipH="1">
            <a:off x="11390495" y="6380330"/>
            <a:ext cx="804672" cy="480284"/>
          </a:xfrm>
          <a:prstGeom prst="rtTriangle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5932AE0-8F0C-6DEB-0FCE-0E62C5A9D955}"/>
              </a:ext>
            </a:extLst>
          </p:cNvPr>
          <p:cNvGrpSpPr/>
          <p:nvPr/>
        </p:nvGrpSpPr>
        <p:grpSpPr>
          <a:xfrm>
            <a:off x="2006088" y="6546896"/>
            <a:ext cx="8179824" cy="237374"/>
            <a:chOff x="1201797" y="6512227"/>
            <a:chExt cx="8179824" cy="23737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E7B9A1E-E117-BAF0-7481-2E146252392F}"/>
                </a:ext>
              </a:extLst>
            </p:cNvPr>
            <p:cNvSpPr/>
            <p:nvPr/>
          </p:nvSpPr>
          <p:spPr>
            <a:xfrm>
              <a:off x="2808036" y="6512577"/>
              <a:ext cx="1737614" cy="236995"/>
            </a:xfrm>
            <a:prstGeom prst="parallelogram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Adding Resources</a:t>
              </a:r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40E33BA3-5D75-A89A-F146-C6095422E79C}"/>
                </a:ext>
              </a:extLst>
            </p:cNvPr>
            <p:cNvSpPr/>
            <p:nvPr/>
          </p:nvSpPr>
          <p:spPr>
            <a:xfrm>
              <a:off x="1201797" y="6512577"/>
              <a:ext cx="1667275" cy="236995"/>
            </a:xfrm>
            <a:prstGeom prst="parallelogram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Account Creation</a:t>
              </a:r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A8BC07F7-B2D8-1BA1-5150-9FC45DCB98F9}"/>
                </a:ext>
              </a:extLst>
            </p:cNvPr>
            <p:cNvSpPr/>
            <p:nvPr/>
          </p:nvSpPr>
          <p:spPr>
            <a:xfrm>
              <a:off x="4484614" y="6512228"/>
              <a:ext cx="1667275" cy="237344"/>
            </a:xfrm>
            <a:prstGeom prst="parallelogram">
              <a:avLst/>
            </a:prstGeom>
            <a:solidFill>
              <a:srgbClr val="99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Reserve A Resource</a:t>
              </a:r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05B758DE-581B-EEA5-0FA7-9957B7C669C2}"/>
                </a:ext>
              </a:extLst>
            </p:cNvPr>
            <p:cNvSpPr/>
            <p:nvPr/>
          </p:nvSpPr>
          <p:spPr>
            <a:xfrm>
              <a:off x="6090853" y="6512548"/>
              <a:ext cx="1678998" cy="237053"/>
            </a:xfrm>
            <a:prstGeom prst="parallelogram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Admin Resources</a:t>
              </a:r>
            </a:p>
          </p:txBody>
        </p:sp>
        <p:sp>
          <p:nvSpPr>
            <p:cNvPr id="7" name="Parallelogram 6">
              <a:extLst>
                <a:ext uri="{FF2B5EF4-FFF2-40B4-BE49-F238E27FC236}">
                  <a16:creationId xmlns:a16="http://schemas.microsoft.com/office/drawing/2014/main" id="{D2227501-D041-6A86-72E0-D11086A27295}"/>
                </a:ext>
              </a:extLst>
            </p:cNvPr>
            <p:cNvSpPr/>
            <p:nvPr/>
          </p:nvSpPr>
          <p:spPr>
            <a:xfrm>
              <a:off x="7714346" y="6512227"/>
              <a:ext cx="1667275" cy="236995"/>
            </a:xfrm>
            <a:prstGeom prst="parallelogram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Messaging</a:t>
              </a:r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CBB92AC-9D2D-29E7-4FB6-C5677D925E49}"/>
              </a:ext>
            </a:extLst>
          </p:cNvPr>
          <p:cNvCxnSpPr>
            <a:cxnSpLocks/>
          </p:cNvCxnSpPr>
          <p:nvPr/>
        </p:nvCxnSpPr>
        <p:spPr>
          <a:xfrm>
            <a:off x="1188433" y="6428232"/>
            <a:ext cx="9815135" cy="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890D422-1C46-4523-5E86-9600C647AECE}"/>
              </a:ext>
            </a:extLst>
          </p:cNvPr>
          <p:cNvSpPr txBox="1"/>
          <p:nvPr/>
        </p:nvSpPr>
        <p:spPr>
          <a:xfrm>
            <a:off x="11858748" y="6519446"/>
            <a:ext cx="4822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US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3ABA04-7BBA-2D17-EA7B-F15E93529117}"/>
              </a:ext>
            </a:extLst>
          </p:cNvPr>
          <p:cNvSpPr txBox="1"/>
          <p:nvPr/>
        </p:nvSpPr>
        <p:spPr>
          <a:xfrm>
            <a:off x="313720" y="95685"/>
            <a:ext cx="1101852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>
                <a:latin typeface="+mn-lt"/>
              </a:rPr>
              <a:t>Reserving Resources Can Be Done Through A Form View and A Calendar 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1A1BCE5-B10F-5330-8073-B9EB6A4165BD}"/>
              </a:ext>
            </a:extLst>
          </p:cNvPr>
          <p:cNvCxnSpPr>
            <a:cxnSpLocks/>
          </p:cNvCxnSpPr>
          <p:nvPr/>
        </p:nvCxnSpPr>
        <p:spPr>
          <a:xfrm>
            <a:off x="196916" y="561121"/>
            <a:ext cx="11193579" cy="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3A9D46C-536D-E697-8B9C-5FA4C1DA4DAF}"/>
              </a:ext>
            </a:extLst>
          </p:cNvPr>
          <p:cNvCxnSpPr>
            <a:cxnSpLocks/>
            <a:stCxn id="21" idx="0"/>
          </p:cNvCxnSpPr>
          <p:nvPr/>
        </p:nvCxnSpPr>
        <p:spPr>
          <a:xfrm flipV="1">
            <a:off x="1552750" y="2928257"/>
            <a:ext cx="1517021" cy="15852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F261D6B-66B7-DC4E-5B96-7B14CEF6BA9E}"/>
              </a:ext>
            </a:extLst>
          </p:cNvPr>
          <p:cNvSpPr/>
          <p:nvPr/>
        </p:nvSpPr>
        <p:spPr>
          <a:xfrm>
            <a:off x="6323960" y="666679"/>
            <a:ext cx="3061793" cy="171046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600" dirty="0">
                <a:solidFill>
                  <a:schemeClr val="tx1"/>
                </a:solidFill>
              </a:rPr>
              <a:t>Booking resources can also be done through a form view for a simplistic view of times. The user can select the </a:t>
            </a:r>
            <a:r>
              <a:rPr lang="en-US" sz="1600" b="1" dirty="0">
                <a:solidFill>
                  <a:schemeClr val="tx1"/>
                </a:solidFill>
              </a:rPr>
              <a:t>form view </a:t>
            </a:r>
            <a:r>
              <a:rPr lang="en-US" sz="1600" dirty="0">
                <a:solidFill>
                  <a:schemeClr val="tx1"/>
                </a:solidFill>
              </a:rPr>
              <a:t>and fill out the start and end date manually.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1D08D43-1D58-E050-CE78-540B8433122F}"/>
              </a:ext>
            </a:extLst>
          </p:cNvPr>
          <p:cNvSpPr/>
          <p:nvPr/>
        </p:nvSpPr>
        <p:spPr>
          <a:xfrm>
            <a:off x="3144548" y="4638001"/>
            <a:ext cx="2005115" cy="165887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600" dirty="0">
                <a:solidFill>
                  <a:schemeClr val="tx1"/>
                </a:solidFill>
              </a:rPr>
              <a:t>Users have the option to choose the recurrence of a resource (weekly, bi-weekly, monthly, etc.)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FF3518D-C560-0D69-66F3-9399F3426EC2}"/>
              </a:ext>
            </a:extLst>
          </p:cNvPr>
          <p:cNvSpPr/>
          <p:nvPr/>
        </p:nvSpPr>
        <p:spPr>
          <a:xfrm>
            <a:off x="193136" y="4513526"/>
            <a:ext cx="2719227" cy="178335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600" dirty="0">
                <a:solidFill>
                  <a:schemeClr val="tx1"/>
                </a:solidFill>
              </a:rPr>
              <a:t>The red area within the calendar shows a slot that has already been booked. Booking on this slot will automatically add you to the </a:t>
            </a:r>
            <a:r>
              <a:rPr lang="en-US" sz="1600" b="1" dirty="0">
                <a:solidFill>
                  <a:schemeClr val="tx1"/>
                </a:solidFill>
              </a:rPr>
              <a:t>waitlist </a:t>
            </a:r>
            <a:r>
              <a:rPr lang="en-US" sz="1600" dirty="0">
                <a:solidFill>
                  <a:schemeClr val="tx1"/>
                </a:solidFill>
              </a:rPr>
              <a:t>for that resource.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B25292F-B5BC-BC9D-FCAE-6AC210D55B94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5149663" y="4942114"/>
            <a:ext cx="500023" cy="5253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4EA8F97-41CD-4DCA-2660-51732A888C4B}"/>
              </a:ext>
            </a:extLst>
          </p:cNvPr>
          <p:cNvCxnSpPr>
            <a:cxnSpLocks/>
            <a:stCxn id="18" idx="2"/>
            <a:endCxn id="6" idx="0"/>
          </p:cNvCxnSpPr>
          <p:nvPr/>
        </p:nvCxnSpPr>
        <p:spPr>
          <a:xfrm>
            <a:off x="7854857" y="2377148"/>
            <a:ext cx="674915" cy="6495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0D56A62-F48C-C855-7D35-D4D2E25B4C83}"/>
              </a:ext>
            </a:extLst>
          </p:cNvPr>
          <p:cNvCxnSpPr>
            <a:cxnSpLocks/>
            <a:stCxn id="18" idx="1"/>
          </p:cNvCxnSpPr>
          <p:nvPr/>
        </p:nvCxnSpPr>
        <p:spPr>
          <a:xfrm flipH="1" flipV="1">
            <a:off x="5230280" y="1028610"/>
            <a:ext cx="1093680" cy="4933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AEFF0D4-DA10-10A1-3655-469982A65535}"/>
              </a:ext>
            </a:extLst>
          </p:cNvPr>
          <p:cNvCxnSpPr>
            <a:cxnSpLocks/>
            <a:stCxn id="19" idx="0"/>
          </p:cNvCxnSpPr>
          <p:nvPr/>
        </p:nvCxnSpPr>
        <p:spPr>
          <a:xfrm flipH="1" flipV="1">
            <a:off x="2741056" y="4198750"/>
            <a:ext cx="1406050" cy="4392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6CEE1FF-3D3C-75D6-D2BB-9C5671C9F9FD}"/>
              </a:ext>
            </a:extLst>
          </p:cNvPr>
          <p:cNvSpPr/>
          <p:nvPr/>
        </p:nvSpPr>
        <p:spPr>
          <a:xfrm>
            <a:off x="9677400" y="1053546"/>
            <a:ext cx="2266496" cy="94563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600" dirty="0">
                <a:solidFill>
                  <a:schemeClr val="tx1"/>
                </a:solidFill>
              </a:rPr>
              <a:t>Reviews will also be displayed that have been left by past users.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0AD729B-FF87-C454-4A13-99EFC5A60BD0}"/>
              </a:ext>
            </a:extLst>
          </p:cNvPr>
          <p:cNvCxnSpPr>
            <a:cxnSpLocks/>
            <a:stCxn id="47" idx="2"/>
          </p:cNvCxnSpPr>
          <p:nvPr/>
        </p:nvCxnSpPr>
        <p:spPr>
          <a:xfrm flipH="1">
            <a:off x="9764514" y="1999180"/>
            <a:ext cx="1046134" cy="13387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1391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BCCF0-6B26-6A6D-20A7-37952A068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8F0FF77-1112-810B-C27B-AC1271AF43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567" y="1062266"/>
            <a:ext cx="10964865" cy="4742188"/>
          </a:xfrm>
          <a:prstGeom prst="rect">
            <a:avLst/>
          </a:prstGeom>
        </p:spPr>
      </p:pic>
      <p:sp>
        <p:nvSpPr>
          <p:cNvPr id="22" name="Right Triangle 21">
            <a:extLst>
              <a:ext uri="{FF2B5EF4-FFF2-40B4-BE49-F238E27FC236}">
                <a16:creationId xmlns:a16="http://schemas.microsoft.com/office/drawing/2014/main" id="{7F5183C1-7884-4ADD-53FD-59CE2F8D6174}"/>
              </a:ext>
            </a:extLst>
          </p:cNvPr>
          <p:cNvSpPr/>
          <p:nvPr/>
        </p:nvSpPr>
        <p:spPr>
          <a:xfrm flipH="1">
            <a:off x="11390495" y="6380330"/>
            <a:ext cx="804672" cy="480284"/>
          </a:xfrm>
          <a:prstGeom prst="rtTriangle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1EDDBEB-F8A9-E7EF-ECC2-7117715ACF16}"/>
              </a:ext>
            </a:extLst>
          </p:cNvPr>
          <p:cNvGrpSpPr/>
          <p:nvPr/>
        </p:nvGrpSpPr>
        <p:grpSpPr>
          <a:xfrm>
            <a:off x="2006088" y="6546896"/>
            <a:ext cx="8179824" cy="237374"/>
            <a:chOff x="1201797" y="6512227"/>
            <a:chExt cx="8179824" cy="23737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2EB452F9-37C5-1DE0-F1D9-D8EE17C4F5F6}"/>
                </a:ext>
              </a:extLst>
            </p:cNvPr>
            <p:cNvSpPr/>
            <p:nvPr/>
          </p:nvSpPr>
          <p:spPr>
            <a:xfrm>
              <a:off x="2808036" y="6512577"/>
              <a:ext cx="1737614" cy="236995"/>
            </a:xfrm>
            <a:prstGeom prst="parallelogram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Adding Resources</a:t>
              </a:r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88325FF5-B0D9-3803-0947-4317C53AD99D}"/>
                </a:ext>
              </a:extLst>
            </p:cNvPr>
            <p:cNvSpPr/>
            <p:nvPr/>
          </p:nvSpPr>
          <p:spPr>
            <a:xfrm>
              <a:off x="1201797" y="6512577"/>
              <a:ext cx="1667275" cy="236995"/>
            </a:xfrm>
            <a:prstGeom prst="parallelogram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Account Creation</a:t>
              </a:r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2BC457D0-34A9-79C0-FBD1-52C9A5636270}"/>
                </a:ext>
              </a:extLst>
            </p:cNvPr>
            <p:cNvSpPr/>
            <p:nvPr/>
          </p:nvSpPr>
          <p:spPr>
            <a:xfrm>
              <a:off x="4484614" y="6512228"/>
              <a:ext cx="1667275" cy="237344"/>
            </a:xfrm>
            <a:prstGeom prst="parallelogram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Reserve A Resource</a:t>
              </a:r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0FDEA483-E250-B1B9-9349-2A45956E0CFE}"/>
                </a:ext>
              </a:extLst>
            </p:cNvPr>
            <p:cNvSpPr/>
            <p:nvPr/>
          </p:nvSpPr>
          <p:spPr>
            <a:xfrm>
              <a:off x="6090853" y="6512548"/>
              <a:ext cx="1678998" cy="237053"/>
            </a:xfrm>
            <a:prstGeom prst="parallelogram">
              <a:avLst/>
            </a:prstGeom>
            <a:solidFill>
              <a:srgbClr val="99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Admin Resources</a:t>
              </a:r>
            </a:p>
          </p:txBody>
        </p:sp>
        <p:sp>
          <p:nvSpPr>
            <p:cNvPr id="7" name="Parallelogram 6">
              <a:extLst>
                <a:ext uri="{FF2B5EF4-FFF2-40B4-BE49-F238E27FC236}">
                  <a16:creationId xmlns:a16="http://schemas.microsoft.com/office/drawing/2014/main" id="{372C7D2C-0B02-8181-6A5C-98DA2B5C1BD4}"/>
                </a:ext>
              </a:extLst>
            </p:cNvPr>
            <p:cNvSpPr/>
            <p:nvPr/>
          </p:nvSpPr>
          <p:spPr>
            <a:xfrm>
              <a:off x="7714346" y="6512227"/>
              <a:ext cx="1667275" cy="236995"/>
            </a:xfrm>
            <a:prstGeom prst="parallelogram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Messaging</a:t>
              </a:r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28AD19E-FC67-7EFB-AEA9-6E0648C318E0}"/>
              </a:ext>
            </a:extLst>
          </p:cNvPr>
          <p:cNvCxnSpPr>
            <a:cxnSpLocks/>
          </p:cNvCxnSpPr>
          <p:nvPr/>
        </p:nvCxnSpPr>
        <p:spPr>
          <a:xfrm>
            <a:off x="1188433" y="6428232"/>
            <a:ext cx="9815135" cy="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F9AD2E0-EFAF-C0E0-A1DE-51F1652A0ADB}"/>
              </a:ext>
            </a:extLst>
          </p:cNvPr>
          <p:cNvSpPr txBox="1"/>
          <p:nvPr/>
        </p:nvSpPr>
        <p:spPr>
          <a:xfrm>
            <a:off x="11858748" y="6519446"/>
            <a:ext cx="4822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9761D2-7963-B451-F404-E5706D32696C}"/>
              </a:ext>
            </a:extLst>
          </p:cNvPr>
          <p:cNvSpPr txBox="1"/>
          <p:nvPr/>
        </p:nvSpPr>
        <p:spPr>
          <a:xfrm>
            <a:off x="313720" y="95685"/>
            <a:ext cx="1101852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>
                <a:latin typeface="+mn-lt"/>
              </a:rPr>
              <a:t>Admin Privileges Offer Full Control Over All Resources, Bookings, and Users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E7A93AC-5C31-15F0-F4EC-E619B1B3D05D}"/>
              </a:ext>
            </a:extLst>
          </p:cNvPr>
          <p:cNvCxnSpPr>
            <a:cxnSpLocks/>
          </p:cNvCxnSpPr>
          <p:nvPr/>
        </p:nvCxnSpPr>
        <p:spPr>
          <a:xfrm>
            <a:off x="196916" y="561121"/>
            <a:ext cx="11193579" cy="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3B65A3F-22B1-E57A-D722-F8CABB2ECA1A}"/>
              </a:ext>
            </a:extLst>
          </p:cNvPr>
          <p:cNvSpPr/>
          <p:nvPr/>
        </p:nvSpPr>
        <p:spPr>
          <a:xfrm>
            <a:off x="10073658" y="2971455"/>
            <a:ext cx="2162006" cy="171046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600" dirty="0">
                <a:solidFill>
                  <a:schemeClr val="tx1"/>
                </a:solidFill>
              </a:rPr>
              <a:t>All activity and booking activities are tracked on this dashboard with a </a:t>
            </a:r>
            <a:r>
              <a:rPr lang="en-US" sz="1600" b="1" dirty="0">
                <a:solidFill>
                  <a:schemeClr val="tx1"/>
                </a:solidFill>
              </a:rPr>
              <a:t>booking log</a:t>
            </a:r>
            <a:r>
              <a:rPr lang="en-US" sz="1600" dirty="0">
                <a:solidFill>
                  <a:schemeClr val="tx1"/>
                </a:solidFill>
              </a:rPr>
              <a:t> and </a:t>
            </a:r>
            <a:r>
              <a:rPr lang="en-US" sz="1600" b="1" dirty="0">
                <a:solidFill>
                  <a:schemeClr val="tx1"/>
                </a:solidFill>
              </a:rPr>
              <a:t>recent activity </a:t>
            </a:r>
            <a:r>
              <a:rPr lang="en-US" sz="1600" dirty="0">
                <a:solidFill>
                  <a:schemeClr val="tx1"/>
                </a:solidFill>
              </a:rPr>
              <a:t>metrics.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06A9ACF-06D4-8748-8C99-0567A7989A4D}"/>
              </a:ext>
            </a:extLst>
          </p:cNvPr>
          <p:cNvSpPr/>
          <p:nvPr/>
        </p:nvSpPr>
        <p:spPr>
          <a:xfrm>
            <a:off x="113227" y="4431199"/>
            <a:ext cx="2005115" cy="108548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600" dirty="0">
                <a:solidFill>
                  <a:schemeClr val="tx1"/>
                </a:solidFill>
              </a:rPr>
              <a:t>Options to manage users are given to delete, add, and adjust user settings.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7E82673-1508-2509-F5B2-298F9B5D75A4}"/>
              </a:ext>
            </a:extLst>
          </p:cNvPr>
          <p:cNvSpPr/>
          <p:nvPr/>
        </p:nvSpPr>
        <p:spPr>
          <a:xfrm>
            <a:off x="113227" y="2103340"/>
            <a:ext cx="2111494" cy="220884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600" dirty="0">
                <a:solidFill>
                  <a:schemeClr val="tx1"/>
                </a:solidFill>
              </a:rPr>
              <a:t>Booking statistics can be shown here to see the total number of accepted, completed, pending, and canceled bookings from all users.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B1BBDB8E-F1F5-B973-F018-40025BCE8D16}"/>
              </a:ext>
            </a:extLst>
          </p:cNvPr>
          <p:cNvSpPr/>
          <p:nvPr/>
        </p:nvSpPr>
        <p:spPr>
          <a:xfrm>
            <a:off x="9918655" y="1758085"/>
            <a:ext cx="2266496" cy="94563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600" dirty="0">
                <a:solidFill>
                  <a:schemeClr val="tx1"/>
                </a:solidFill>
              </a:rPr>
              <a:t>Other comprehensive statistics are shown to see activity levels from users.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E6293F1-E770-8D0F-6DA6-125811285168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2118342" y="4572000"/>
            <a:ext cx="687905" cy="4019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1D0030C-1869-1FE6-8044-B69BF8528F1C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5288905" y="3826690"/>
            <a:ext cx="4784753" cy="6045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9D3848A-4287-A8B7-D208-ED69DC8DF7FB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7681281" y="4681924"/>
            <a:ext cx="3473380" cy="4146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0902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424B-2502-C47E-5EA0-ABB24B2BA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40BEBA-D6FF-2309-B8FF-118BD0FAD4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186" y="1078293"/>
            <a:ext cx="11035627" cy="4736964"/>
          </a:xfrm>
          <a:prstGeom prst="rect">
            <a:avLst/>
          </a:prstGeom>
        </p:spPr>
      </p:pic>
      <p:sp>
        <p:nvSpPr>
          <p:cNvPr id="22" name="Right Triangle 21">
            <a:extLst>
              <a:ext uri="{FF2B5EF4-FFF2-40B4-BE49-F238E27FC236}">
                <a16:creationId xmlns:a16="http://schemas.microsoft.com/office/drawing/2014/main" id="{A09E2CD2-5381-6943-9163-6D342DA0376B}"/>
              </a:ext>
            </a:extLst>
          </p:cNvPr>
          <p:cNvSpPr/>
          <p:nvPr/>
        </p:nvSpPr>
        <p:spPr>
          <a:xfrm flipH="1">
            <a:off x="11390495" y="6380330"/>
            <a:ext cx="804672" cy="480284"/>
          </a:xfrm>
          <a:prstGeom prst="rtTriangle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94C04A0-BF15-29E0-FDD1-0753B24C528A}"/>
              </a:ext>
            </a:extLst>
          </p:cNvPr>
          <p:cNvGrpSpPr/>
          <p:nvPr/>
        </p:nvGrpSpPr>
        <p:grpSpPr>
          <a:xfrm>
            <a:off x="2006088" y="6546896"/>
            <a:ext cx="8179824" cy="237374"/>
            <a:chOff x="1201797" y="6512227"/>
            <a:chExt cx="8179824" cy="23737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07B48133-D7AB-7210-A10E-8F1218E99534}"/>
                </a:ext>
              </a:extLst>
            </p:cNvPr>
            <p:cNvSpPr/>
            <p:nvPr/>
          </p:nvSpPr>
          <p:spPr>
            <a:xfrm>
              <a:off x="2808036" y="6512577"/>
              <a:ext cx="1737614" cy="236995"/>
            </a:xfrm>
            <a:prstGeom prst="parallelogram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Adding Resources</a:t>
              </a:r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046E784D-772E-38B4-E936-0C267E1BECC2}"/>
                </a:ext>
              </a:extLst>
            </p:cNvPr>
            <p:cNvSpPr/>
            <p:nvPr/>
          </p:nvSpPr>
          <p:spPr>
            <a:xfrm>
              <a:off x="1201797" y="6512577"/>
              <a:ext cx="1667275" cy="236995"/>
            </a:xfrm>
            <a:prstGeom prst="parallelogram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Account Creation</a:t>
              </a:r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D4DFBD13-C022-79C4-E08F-A800762AD061}"/>
                </a:ext>
              </a:extLst>
            </p:cNvPr>
            <p:cNvSpPr/>
            <p:nvPr/>
          </p:nvSpPr>
          <p:spPr>
            <a:xfrm>
              <a:off x="4484614" y="6512228"/>
              <a:ext cx="1667275" cy="237344"/>
            </a:xfrm>
            <a:prstGeom prst="parallelogram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Reserve A Resource</a:t>
              </a:r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3EFDF29-1930-2B18-193E-A1CC800849A1}"/>
                </a:ext>
              </a:extLst>
            </p:cNvPr>
            <p:cNvSpPr/>
            <p:nvPr/>
          </p:nvSpPr>
          <p:spPr>
            <a:xfrm>
              <a:off x="6090853" y="6512548"/>
              <a:ext cx="1678998" cy="237053"/>
            </a:xfrm>
            <a:prstGeom prst="parallelogram">
              <a:avLst/>
            </a:prstGeom>
            <a:solidFill>
              <a:srgbClr val="99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Admin Resources</a:t>
              </a:r>
            </a:p>
          </p:txBody>
        </p:sp>
        <p:sp>
          <p:nvSpPr>
            <p:cNvPr id="7" name="Parallelogram 6">
              <a:extLst>
                <a:ext uri="{FF2B5EF4-FFF2-40B4-BE49-F238E27FC236}">
                  <a16:creationId xmlns:a16="http://schemas.microsoft.com/office/drawing/2014/main" id="{550F1850-97A8-8478-1DA6-565FFA38E131}"/>
                </a:ext>
              </a:extLst>
            </p:cNvPr>
            <p:cNvSpPr/>
            <p:nvPr/>
          </p:nvSpPr>
          <p:spPr>
            <a:xfrm>
              <a:off x="7714346" y="6512227"/>
              <a:ext cx="1667275" cy="236995"/>
            </a:xfrm>
            <a:prstGeom prst="parallelogram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Messaging</a:t>
              </a:r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73A38DA-997E-EFEC-E569-46E1D94E652B}"/>
              </a:ext>
            </a:extLst>
          </p:cNvPr>
          <p:cNvCxnSpPr>
            <a:cxnSpLocks/>
          </p:cNvCxnSpPr>
          <p:nvPr/>
        </p:nvCxnSpPr>
        <p:spPr>
          <a:xfrm>
            <a:off x="1188433" y="6428232"/>
            <a:ext cx="9815135" cy="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D9D8988-3E72-5313-08C2-B30336B3150A}"/>
              </a:ext>
            </a:extLst>
          </p:cNvPr>
          <p:cNvSpPr txBox="1"/>
          <p:nvPr/>
        </p:nvSpPr>
        <p:spPr>
          <a:xfrm>
            <a:off x="11858748" y="6519446"/>
            <a:ext cx="4822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E21382-45C2-B1D5-CD96-D982808EE845}"/>
              </a:ext>
            </a:extLst>
          </p:cNvPr>
          <p:cNvSpPr txBox="1"/>
          <p:nvPr/>
        </p:nvSpPr>
        <p:spPr>
          <a:xfrm>
            <a:off x="313720" y="95685"/>
            <a:ext cx="1101852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>
                <a:latin typeface="+mn-lt"/>
              </a:rPr>
              <a:t>Resource Bookings Can Be Accepted or Rejected By The Resource Owner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065EC-F004-BEC0-A373-E917267F39FF}"/>
              </a:ext>
            </a:extLst>
          </p:cNvPr>
          <p:cNvCxnSpPr>
            <a:cxnSpLocks/>
          </p:cNvCxnSpPr>
          <p:nvPr/>
        </p:nvCxnSpPr>
        <p:spPr>
          <a:xfrm>
            <a:off x="196916" y="561121"/>
            <a:ext cx="11193579" cy="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80586A2-5CF0-6B8F-D6C4-2F6D1E5CC6C6}"/>
              </a:ext>
            </a:extLst>
          </p:cNvPr>
          <p:cNvSpPr/>
          <p:nvPr/>
        </p:nvSpPr>
        <p:spPr>
          <a:xfrm>
            <a:off x="6361626" y="608391"/>
            <a:ext cx="3413744" cy="44594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600" dirty="0">
                <a:solidFill>
                  <a:schemeClr val="tx1"/>
                </a:solidFill>
              </a:rPr>
              <a:t>The “My Resource Bookings” option is present under the “Resources” tab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FC0E641-6A8F-488E-1F2B-9FFD73FC96D3}"/>
              </a:ext>
            </a:extLst>
          </p:cNvPr>
          <p:cNvSpPr/>
          <p:nvPr/>
        </p:nvSpPr>
        <p:spPr>
          <a:xfrm>
            <a:off x="8282163" y="5041277"/>
            <a:ext cx="2665732" cy="121992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600" dirty="0">
                <a:solidFill>
                  <a:schemeClr val="tx1"/>
                </a:solidFill>
              </a:rPr>
              <a:t>The resource owner (admin or staff) can accept or deny restricted resources with the green and red buttons. 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1AFC234-6BE4-E8F9-6A44-1E37CAC88BE6}"/>
              </a:ext>
            </a:extLst>
          </p:cNvPr>
          <p:cNvSpPr/>
          <p:nvPr/>
        </p:nvSpPr>
        <p:spPr>
          <a:xfrm>
            <a:off x="4628197" y="1551257"/>
            <a:ext cx="4102145" cy="81094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600" dirty="0">
                <a:solidFill>
                  <a:schemeClr val="tx1"/>
                </a:solidFill>
              </a:rPr>
              <a:t>The staff or admin that created a resource can see all the booking options for their own specific resources.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CC78057-7A13-D6ED-1FE1-C8BEB744E20C}"/>
              </a:ext>
            </a:extLst>
          </p:cNvPr>
          <p:cNvCxnSpPr>
            <a:cxnSpLocks/>
            <a:stCxn id="47" idx="1"/>
          </p:cNvCxnSpPr>
          <p:nvPr/>
        </p:nvCxnSpPr>
        <p:spPr>
          <a:xfrm flipH="1">
            <a:off x="2516703" y="1956729"/>
            <a:ext cx="2111494" cy="6123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170BAB1-49EF-1120-E68D-1434A6D9116A}"/>
              </a:ext>
            </a:extLst>
          </p:cNvPr>
          <p:cNvCxnSpPr>
            <a:cxnSpLocks/>
          </p:cNvCxnSpPr>
          <p:nvPr/>
        </p:nvCxnSpPr>
        <p:spPr>
          <a:xfrm flipH="1">
            <a:off x="3385457" y="2243187"/>
            <a:ext cx="1242740" cy="3258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C5E1E1F-D58B-E6A4-BB73-48100ECA97B8}"/>
              </a:ext>
            </a:extLst>
          </p:cNvPr>
          <p:cNvCxnSpPr>
            <a:cxnSpLocks/>
          </p:cNvCxnSpPr>
          <p:nvPr/>
        </p:nvCxnSpPr>
        <p:spPr>
          <a:xfrm flipH="1">
            <a:off x="4628197" y="2362200"/>
            <a:ext cx="542517" cy="3258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40C1125-9F42-61E4-7DE5-CC40E95EB5EC}"/>
              </a:ext>
            </a:extLst>
          </p:cNvPr>
          <p:cNvCxnSpPr>
            <a:cxnSpLocks/>
            <a:stCxn id="47" idx="2"/>
          </p:cNvCxnSpPr>
          <p:nvPr/>
        </p:nvCxnSpPr>
        <p:spPr>
          <a:xfrm flipH="1">
            <a:off x="6248400" y="2362200"/>
            <a:ext cx="430870" cy="3258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4734035-EA1E-52D9-3543-36FAC3CADF14}"/>
              </a:ext>
            </a:extLst>
          </p:cNvPr>
          <p:cNvCxnSpPr>
            <a:cxnSpLocks/>
          </p:cNvCxnSpPr>
          <p:nvPr/>
        </p:nvCxnSpPr>
        <p:spPr>
          <a:xfrm flipV="1">
            <a:off x="9220725" y="4088728"/>
            <a:ext cx="0" cy="9525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FC17B6B-714B-1236-FF50-AD09C7C6BB85}"/>
              </a:ext>
            </a:extLst>
          </p:cNvPr>
          <p:cNvCxnSpPr>
            <a:cxnSpLocks/>
            <a:stCxn id="21" idx="0"/>
          </p:cNvCxnSpPr>
          <p:nvPr/>
        </p:nvCxnSpPr>
        <p:spPr>
          <a:xfrm flipV="1">
            <a:off x="9615029" y="4088728"/>
            <a:ext cx="0" cy="9525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3CC3BF75-5E0B-D81B-D52E-A2D9DFA8EA6D}"/>
              </a:ext>
            </a:extLst>
          </p:cNvPr>
          <p:cNvSpPr/>
          <p:nvPr/>
        </p:nvSpPr>
        <p:spPr>
          <a:xfrm>
            <a:off x="6361626" y="1084895"/>
            <a:ext cx="1084203" cy="3539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5EE22C5-9B9D-615D-93AF-4DCA5D352EDB}"/>
              </a:ext>
            </a:extLst>
          </p:cNvPr>
          <p:cNvCxnSpPr>
            <a:cxnSpLocks/>
            <a:stCxn id="19" idx="2"/>
            <a:endCxn id="43" idx="6"/>
          </p:cNvCxnSpPr>
          <p:nvPr/>
        </p:nvCxnSpPr>
        <p:spPr>
          <a:xfrm flipH="1">
            <a:off x="7445829" y="1054340"/>
            <a:ext cx="622669" cy="2075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8267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61309-618B-5278-05A6-5CDA95FC9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774FBDD-6658-3AB9-C198-3E6199AD0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9725" y="4096754"/>
            <a:ext cx="9180819" cy="2181581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E80811B-9C43-37A8-327C-4234E1A08B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668" y="846873"/>
            <a:ext cx="7102876" cy="3099984"/>
          </a:xfrm>
          <a:prstGeom prst="rect">
            <a:avLst/>
          </a:prstGeom>
        </p:spPr>
      </p:pic>
      <p:sp>
        <p:nvSpPr>
          <p:cNvPr id="22" name="Right Triangle 21">
            <a:extLst>
              <a:ext uri="{FF2B5EF4-FFF2-40B4-BE49-F238E27FC236}">
                <a16:creationId xmlns:a16="http://schemas.microsoft.com/office/drawing/2014/main" id="{430FB83B-A7AD-0BDB-4E80-E70F0AC8A5FA}"/>
              </a:ext>
            </a:extLst>
          </p:cNvPr>
          <p:cNvSpPr/>
          <p:nvPr/>
        </p:nvSpPr>
        <p:spPr>
          <a:xfrm flipH="1">
            <a:off x="11390495" y="6380330"/>
            <a:ext cx="804672" cy="480284"/>
          </a:xfrm>
          <a:prstGeom prst="rtTriangle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45CC0DB-11EC-598C-D63A-7C2A1711C39B}"/>
              </a:ext>
            </a:extLst>
          </p:cNvPr>
          <p:cNvGrpSpPr/>
          <p:nvPr/>
        </p:nvGrpSpPr>
        <p:grpSpPr>
          <a:xfrm>
            <a:off x="2006088" y="6546896"/>
            <a:ext cx="8179824" cy="237374"/>
            <a:chOff x="1201797" y="6512227"/>
            <a:chExt cx="8179824" cy="23737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23FADE9-AB6E-8049-7CAE-47599C5DDFD9}"/>
                </a:ext>
              </a:extLst>
            </p:cNvPr>
            <p:cNvSpPr/>
            <p:nvPr/>
          </p:nvSpPr>
          <p:spPr>
            <a:xfrm>
              <a:off x="2808036" y="6512577"/>
              <a:ext cx="1737614" cy="236995"/>
            </a:xfrm>
            <a:prstGeom prst="parallelogram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Adding Resources</a:t>
              </a:r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E32D4CAB-B9BC-78E0-693D-4DFEB92D22C8}"/>
                </a:ext>
              </a:extLst>
            </p:cNvPr>
            <p:cNvSpPr/>
            <p:nvPr/>
          </p:nvSpPr>
          <p:spPr>
            <a:xfrm>
              <a:off x="1201797" y="6512577"/>
              <a:ext cx="1667275" cy="236995"/>
            </a:xfrm>
            <a:prstGeom prst="parallelogram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Account Creation</a:t>
              </a:r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FF08F10-DA3E-3F06-9875-07525B3CD01B}"/>
                </a:ext>
              </a:extLst>
            </p:cNvPr>
            <p:cNvSpPr/>
            <p:nvPr/>
          </p:nvSpPr>
          <p:spPr>
            <a:xfrm>
              <a:off x="4484614" y="6512228"/>
              <a:ext cx="1667275" cy="237344"/>
            </a:xfrm>
            <a:prstGeom prst="parallelogram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Reserve A Resource</a:t>
              </a:r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AFE0C59C-394F-5D47-20ED-6C375E4D2C51}"/>
                </a:ext>
              </a:extLst>
            </p:cNvPr>
            <p:cNvSpPr/>
            <p:nvPr/>
          </p:nvSpPr>
          <p:spPr>
            <a:xfrm>
              <a:off x="6090853" y="6512548"/>
              <a:ext cx="1678998" cy="237053"/>
            </a:xfrm>
            <a:prstGeom prst="parallelogram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Admin Resources</a:t>
              </a:r>
            </a:p>
          </p:txBody>
        </p:sp>
        <p:sp>
          <p:nvSpPr>
            <p:cNvPr id="7" name="Parallelogram 6">
              <a:extLst>
                <a:ext uri="{FF2B5EF4-FFF2-40B4-BE49-F238E27FC236}">
                  <a16:creationId xmlns:a16="http://schemas.microsoft.com/office/drawing/2014/main" id="{A89EF887-3C4A-0B97-4DB7-3F8A437AFC2C}"/>
                </a:ext>
              </a:extLst>
            </p:cNvPr>
            <p:cNvSpPr/>
            <p:nvPr/>
          </p:nvSpPr>
          <p:spPr>
            <a:xfrm>
              <a:off x="7714346" y="6512227"/>
              <a:ext cx="1667275" cy="236995"/>
            </a:xfrm>
            <a:prstGeom prst="parallelogram">
              <a:avLst/>
            </a:prstGeom>
            <a:solidFill>
              <a:srgbClr val="99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Messaging</a:t>
              </a:r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32DF333-DDE4-D650-0F6A-275377D1B997}"/>
              </a:ext>
            </a:extLst>
          </p:cNvPr>
          <p:cNvCxnSpPr>
            <a:cxnSpLocks/>
          </p:cNvCxnSpPr>
          <p:nvPr/>
        </p:nvCxnSpPr>
        <p:spPr>
          <a:xfrm>
            <a:off x="1188433" y="6428232"/>
            <a:ext cx="9815135" cy="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F2DFD9D-6057-684D-BD9E-FD291AE51778}"/>
              </a:ext>
            </a:extLst>
          </p:cNvPr>
          <p:cNvSpPr txBox="1"/>
          <p:nvPr/>
        </p:nvSpPr>
        <p:spPr>
          <a:xfrm>
            <a:off x="11858748" y="6519446"/>
            <a:ext cx="4822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66B8B8-3569-E56A-6A0F-D8F58B219A38}"/>
              </a:ext>
            </a:extLst>
          </p:cNvPr>
          <p:cNvSpPr txBox="1"/>
          <p:nvPr/>
        </p:nvSpPr>
        <p:spPr>
          <a:xfrm>
            <a:off x="313720" y="95685"/>
            <a:ext cx="1101852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>
                <a:latin typeface="+mn-lt"/>
              </a:rPr>
              <a:t>Messages Can Be Sent From Users To Resource Owners For Any Questions or Comments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4C4D9E4-7B12-5984-5A36-DBBBF42D62AC}"/>
              </a:ext>
            </a:extLst>
          </p:cNvPr>
          <p:cNvCxnSpPr>
            <a:cxnSpLocks/>
          </p:cNvCxnSpPr>
          <p:nvPr/>
        </p:nvCxnSpPr>
        <p:spPr>
          <a:xfrm>
            <a:off x="196916" y="561121"/>
            <a:ext cx="11193579" cy="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972CCEF-AC99-EFFB-5A65-6BD853D1E196}"/>
              </a:ext>
            </a:extLst>
          </p:cNvPr>
          <p:cNvSpPr/>
          <p:nvPr/>
        </p:nvSpPr>
        <p:spPr>
          <a:xfrm>
            <a:off x="7645402" y="765005"/>
            <a:ext cx="3413744" cy="121992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600" dirty="0">
                <a:solidFill>
                  <a:schemeClr val="tx1"/>
                </a:solidFill>
              </a:rPr>
              <a:t>Contact information of the user messaging the resource owner is shown as well as all conversation history with the user.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C56DDF0-9695-502E-0466-1A6DD8BA214C}"/>
              </a:ext>
            </a:extLst>
          </p:cNvPr>
          <p:cNvSpPr/>
          <p:nvPr/>
        </p:nvSpPr>
        <p:spPr>
          <a:xfrm>
            <a:off x="9193016" y="2319471"/>
            <a:ext cx="2665732" cy="121992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600" dirty="0">
                <a:solidFill>
                  <a:schemeClr val="tx1"/>
                </a:solidFill>
              </a:rPr>
              <a:t>Messages will show up under the messages tab where a listing of all messages will be present.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58411C57-63D1-70DA-2735-8A1AED312F12}"/>
              </a:ext>
            </a:extLst>
          </p:cNvPr>
          <p:cNvSpPr/>
          <p:nvPr/>
        </p:nvSpPr>
        <p:spPr>
          <a:xfrm>
            <a:off x="313720" y="3976792"/>
            <a:ext cx="2277125" cy="235002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600" dirty="0">
                <a:solidFill>
                  <a:schemeClr val="tx1"/>
                </a:solidFill>
              </a:rPr>
              <a:t>Messages can be sent back and forth from the resource owner and a potential user of the resource. This can be used for any questions that a user may have about a resource.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9348B6E-6F57-5010-CF16-7A8CA11D6088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7554686" y="3539400"/>
            <a:ext cx="2971196" cy="12829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6939F965-85E7-6286-6C5F-EF58AD9CF4C1}"/>
              </a:ext>
            </a:extLst>
          </p:cNvPr>
          <p:cNvSpPr/>
          <p:nvPr/>
        </p:nvSpPr>
        <p:spPr>
          <a:xfrm>
            <a:off x="4908734" y="4096725"/>
            <a:ext cx="576943" cy="2140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99078EB-B6EA-96D7-F636-5B22606DF419}"/>
              </a:ext>
            </a:extLst>
          </p:cNvPr>
          <p:cNvCxnSpPr>
            <a:cxnSpLocks/>
            <a:stCxn id="21" idx="1"/>
            <a:endCxn id="43" idx="7"/>
          </p:cNvCxnSpPr>
          <p:nvPr/>
        </p:nvCxnSpPr>
        <p:spPr>
          <a:xfrm flipH="1">
            <a:off x="5401186" y="2929436"/>
            <a:ext cx="3791830" cy="11986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32E46DA-0EB2-3A09-985E-F800291DE1D0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6418065" y="1374970"/>
            <a:ext cx="1227337" cy="39790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7339110"/>
      </p:ext>
    </p:extLst>
  </p:cSld>
  <p:clrMapOvr>
    <a:masterClrMapping/>
  </p:clrMapOvr>
</p:sld>
</file>

<file path=ppt/theme/theme1.xml><?xml version="1.0" encoding="utf-8"?>
<a:theme xmlns:a="http://schemas.openxmlformats.org/drawingml/2006/main" name="CA1Theme(LightGrey)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A9F4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1Theme(LightGrey)" id="{EC50DE0B-D36A-4802-AF6E-878FCB695710}" vid="{DDD11DDF-DD3B-4CD0-94D7-18C1D91A156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AF18D2DA18D942AFEA343EB2C94FFB" ma:contentTypeVersion="15" ma:contentTypeDescription="Create a new document." ma:contentTypeScope="" ma:versionID="e8f2b13269dede65895e00721b006320">
  <xsd:schema xmlns:xsd="http://www.w3.org/2001/XMLSchema" xmlns:xs="http://www.w3.org/2001/XMLSchema" xmlns:p="http://schemas.microsoft.com/office/2006/metadata/properties" xmlns:ns3="6295215c-4e53-4643-af3e-f6f86cd7ab94" xmlns:ns4="2c48dd21-05de-4ff3-8429-26d1b8ea6d02" targetNamespace="http://schemas.microsoft.com/office/2006/metadata/properties" ma:root="true" ma:fieldsID="aac61b6d9972f4bb1cc177629fd21eda" ns3:_="" ns4:_="">
    <xsd:import namespace="6295215c-4e53-4643-af3e-f6f86cd7ab94"/>
    <xsd:import namespace="2c48dd21-05de-4ff3-8429-26d1b8ea6d0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  <xsd:element ref="ns3:MediaLengthInSecond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95215c-4e53-4643-af3e-f6f86cd7ab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48dd21-05de-4ff3-8429-26d1b8ea6d02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295215c-4e53-4643-af3e-f6f86cd7ab94" xsi:nil="true"/>
  </documentManagement>
</p:properties>
</file>

<file path=customXml/itemProps1.xml><?xml version="1.0" encoding="utf-8"?>
<ds:datastoreItem xmlns:ds="http://schemas.openxmlformats.org/officeDocument/2006/customXml" ds:itemID="{FCC45580-16F5-4A82-AAC1-F938A3620A4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61FF3EB-3D98-485F-9C73-246107F6D72B}">
  <ds:schemaRefs>
    <ds:schemaRef ds:uri="2c48dd21-05de-4ff3-8429-26d1b8ea6d02"/>
    <ds:schemaRef ds:uri="6295215c-4e53-4643-af3e-f6f86cd7ab9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ADB049A-6204-4F3D-9C4D-798BC3A35461}">
  <ds:schemaRefs>
    <ds:schemaRef ds:uri="http://schemas.microsoft.com/office/2006/metadata/properties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www.w3.org/XML/1998/namespace"/>
    <ds:schemaRef ds:uri="2c48dd21-05de-4ff3-8429-26d1b8ea6d02"/>
    <ds:schemaRef ds:uri="6295215c-4e53-4643-af3e-f6f86cd7ab9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CA1Theme(LightGrey)</Template>
  <TotalTime>235</TotalTime>
  <Words>620</Words>
  <Application>Microsoft Office PowerPoint</Application>
  <PresentationFormat>Widescreen</PresentationFormat>
  <Paragraphs>69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Calibri</vt:lpstr>
      <vt:lpstr>Georgia</vt:lpstr>
      <vt:lpstr>CA1Theme(LightGrey)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Laware, Matthew Ryan</dc:creator>
  <cp:lastModifiedBy>Laware, Matthew Ryan</cp:lastModifiedBy>
  <cp:revision>6</cp:revision>
  <dcterms:created xsi:type="dcterms:W3CDTF">2025-10-22T00:03:06Z</dcterms:created>
  <dcterms:modified xsi:type="dcterms:W3CDTF">2025-11-15T03:06:09Z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0x010100B6AF18D2DA18D942AFEA343EB2C94FFB</vt:lpwstr>
  </property>
</Properties>
</file>